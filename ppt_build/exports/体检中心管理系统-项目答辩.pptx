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各位老师好，我今天答辩的项目是体检中心管理系统，代号 HealthySys，是一款基于 Java Swing 和 MySQL 的桌面端体检业务管理系统。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系统面向体检中心的医生和患者两类用户，覆盖检查项、检查组、预约、结果录入与跟踪等核心业务，并采用 Maven 多模块工程组织代码。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本页封面信息中的答辩人姓名可按实际情况填写。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本页说明项目的出发点与目标。传统体检流程依赖纸质与人工，效率低且容易出错，因此我们设计了这个桌面端管理系统。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设计目标有三点：数据统一管理、双角色协同、结构可维护，这也是后续页面展开的主线。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技术选型上，界面使用 Java Swing，数据存储使用 MySQL，通过 JDBC 连接，工程采用 Maven 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系统共包含六大功能，分属医生与患者两类角色。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医生侧负责检查项管理、检查组管理、录入结果和查看患者结果；患者侧负责预约和跟踪管理。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这样设计保证了业务闭环：医生先维护检查项目录，再组成套餐，患者预约后由医生录入结果，患者和医生都能查看历次跟踪。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本页介绍系统的双角色模型。账号分为医生和患者两种角色，医生拥有检查维护、结果录入等管理能力，患者则进行自助预约和结果跟踪。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注册时可以只注册患者角色，也可以注册双重角色，双重角色账号可以在主界面右上角一键切换医生与患者视角。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这样的设计让一名医生既能管理业务，也能以患者视角体验预约与跟踪流程，便于系统自测。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技术选型上我们坚持简洁、够用的原则。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数据层使用 MySQL 8，共 6 张业务表；界面层使用 Java Swing，并通过自绘组件统一美化；数据访问使用 JDBC，集中封装避免重复代码。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工程层面使用 Maven 多模块，把系统按大功能拆成 7 个模块，这是本项目在结构上最核心的设计。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本页是项目的核心结构。我们使用 Maven 聚合工程把系统拆成 7 个模块，按依赖自底向上分层。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最底层是公共层 healthy-common，提供 JDBC 工具、实体和会话；数据访问层 healthy-dao 按大功能拆成 5 个 DAO；业务层 healthy-service 承担校验。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界面层分三块：功能面板 healthy-ui-feature、UI 组件库 healthy-ui-base 和应用壳层 healthy-ui-shell；旧的单模块代码归档到 healthy-legacy，仅作参考不参与运行。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这样每个模块职责单一、可以并行开发，修改一个模块不会影响其他模块。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数据库共 6 张表。用户表存账号与角色，检查项和检查组通过关联表组成套餐，预约记录患者、套餐与日期，结果表记录每次体检各检查项的数值与状态。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外键关系构成两条主线：用户到预约到结果，以及检查组到检查项，保证体检业务流程的完整性。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建表与种子数据统一放在 resources/init.sql 中，便于初始化环境。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这是系统的实际运行界面，采用统一的现代美颜风格。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登录界面是浅蓝渐变卡片式设计；注册界面可以选择仅患者角色或双重角色。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医生端以四个标签页组织检查项管理、检查组管理、录入结果和查看患者结果；患者端以两个标签页组织预约和跟踪管理，跟踪管理展示历次检查结果。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截图均来自系统真实运行时的数据渲染。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最后做一下总结。系统完整实现了体检中心的业务闭环，从检查项维护到结果跟踪，覆盖医生与患者两类角色的使用场景。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工程上采用 Maven 多模块架构，7 个模块职责单一、依赖清晰，支持多人并行开发，可维护性明显优于单模块实现。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展望方面，后续可以补充统计报表与健康建议，并把系统演进为网络化部署形态，支持更多使用场景。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我的汇报到此结束，感谢各位老师，欢迎批评指正。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notesSlides/notesSlide3.xml" Type="http://schemas.openxmlformats.org/officeDocument/2006/relationships/notesSlid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notesSlides/notesSlide9.xml" Type="http://schemas.openxmlformats.org/officeDocument/2006/relationships/notesSlide"/><Relationship Id="rId7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087">
                <a:alpha val="100000"/>
              </a:srgbClr>
            </a:gs>
            <a:gs pos="100000">
              <a:srgbClr val="0070B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990600"/>
            <a:ext cx="711200" cy="7112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133600"/>
            <a:ext cx="1041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体检中心管理系统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454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HealthySys · 基于 Java Swing + MySQL 的桌面端体检管理系统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41400" y="44704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多角色协同 · 体检业务全流程管理 · Maven 多模块工程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943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项目答辩 答辩人：____________ 日期：2026-09-04 V1.0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项目背景与设计目标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355600"/>
            <a:ext cx="50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9144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项目背景与设计目标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21336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43200"/>
            <a:ext cx="5080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传统体检中心在检查项维护、体检预约、结果记录等环节依赖纸质单据与人工登记，存在易错、难追溯、协作成本高等问题。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本项目以桌面端管理软件为载体，将检查项与检查组维护、患者预约、医生录入结果、历次跟踪统一纳入一个系统，实现体检业务的信息化管理。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1336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设计目标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743200"/>
            <a:ext cx="5207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0833"/>
              </a:lnSpc>
              <a:buClr>
                <a:srgbClr val="475569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数据统一管理：检查项、检查组、预约、结果集中入库，全程可追溯</a:t>
            </a:r>
            <a:endParaRPr lang="en-US" sz="1100"/>
          </a:p>
          <a:p>
            <a:pPr algn="l" indent="-203200" marL="203200">
              <a:lnSpc>
                <a:spcPct val="120833"/>
              </a:lnSpc>
              <a:buClr>
                <a:srgbClr val="475569"/>
              </a:buClr>
              <a:buChar char="•"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双角色协同：医生负责维护与录入，患者自助预约并查看跟踪</a:t>
            </a:r>
          </a:p>
          <a:p>
            <a:pPr algn="l" indent="-203200" marL="203200">
              <a:lnSpc>
                <a:spcPct val="120833"/>
              </a:lnSpc>
              <a:buClr>
                <a:srgbClr val="475569"/>
              </a:buClr>
              <a:buChar char="•"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结构可维护：按大功能拆分 Maven 多模块，便于多人并行开发</a:t>
            </a:r>
          </a:p>
        </p:txBody>
      </p:sp>
      <p:cxnSp>
        <p:nvCxnSpPr>
          <p:cNvPr name="Connector 10" id="10"/>
          <p:cNvCxnSpPr/>
          <p:nvPr/>
        </p:nvCxnSpPr>
        <p:spPr>
          <a:xfrm rot="-4092" flipH="false" flipV="false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62000" y="6172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技术选型：</a:t>
            </a:r>
            <a:r>
              <a:rPr lang="en-US" b="false" i="false" strike="noStrike" u="none" sz="16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Java Swing</a:t>
            </a:r>
            <a:r>
              <a:rPr lang="en-US" b="fals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b="false" i="false" strike="noStrike" u="none" sz="16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MySQL 8</a:t>
            </a:r>
            <a:r>
              <a:rPr lang="en-US" b="fals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b="false" i="false" strike="noStrike" u="none" sz="16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JDBC</a:t>
            </a:r>
            <a:r>
              <a:rPr lang="en-US" b="fals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b="false" i="false" strike="noStrike" u="none" sz="16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Maven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功能总览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355600"/>
            <a:ext cx="50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9144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系统功能总览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1336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71600" y="20828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检查项管理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71600" y="2540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检查项目录维护，支持新增、修改、删除 · 医生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21336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59600" y="20828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检查组管理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59600" y="2540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将多个检查项组合为体检套餐 · 医生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37084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71600" y="36576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预约管理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71600" y="41148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选择套餐与日期提交预约，可取消预约 · 患者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37084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59600" y="36576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录入结果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59600" y="41148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按患者姓名查预约，选择某次体检录入数值 · 医生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62000" y="52832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71600" y="52324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跟踪管理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371600" y="56896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历次检查结果总览，支持按检查项对比 · 患者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350000" y="5283200"/>
            <a:ext cx="457200" cy="457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59600" y="52324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查看患者结果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959600" y="56896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医生查看任意患者历次体检结果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双角色模型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355600"/>
            <a:ext cx="50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9144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医生 / 患者双角色模型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2606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22400" y="22352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医生视角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048000"/>
            <a:ext cx="4572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25000"/>
              </a:lnSpc>
              <a:buClr>
                <a:srgbClr val="475569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检查项管理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475569"/>
              </a:buClr>
              <a:buChar char="•"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检查组管理</a:t>
            </a:r>
          </a:p>
          <a:p>
            <a:pPr algn="l" indent="-228600" marL="228600">
              <a:lnSpc>
                <a:spcPct val="125000"/>
              </a:lnSpc>
              <a:buClr>
                <a:srgbClr val="475569"/>
              </a:buClr>
              <a:buChar char="•"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录入结果</a:t>
            </a:r>
          </a:p>
          <a:p>
            <a:pPr algn="l" indent="-228600" marL="228600">
              <a:lnSpc>
                <a:spcPct val="125000"/>
              </a:lnSpc>
              <a:buClr>
                <a:srgbClr val="475569"/>
              </a:buClr>
              <a:buChar char="•"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查看患者结果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40400" y="3810000"/>
            <a:ext cx="558800" cy="558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334000" y="4521200"/>
            <a:ext cx="139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一键切换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12000" y="22606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772400" y="22352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患者视角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12000" y="3048000"/>
            <a:ext cx="431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25000"/>
              </a:lnSpc>
              <a:buClr>
                <a:srgbClr val="475569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预约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475569"/>
              </a:buClr>
              <a:buChar char="•"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跟踪管理</a:t>
            </a:r>
          </a:p>
        </p:txBody>
      </p:sp>
      <p:cxnSp>
        <p:nvCxnSpPr>
          <p:cNvPr name="Connector 14" id="14"/>
          <p:cNvCxnSpPr/>
          <p:nvPr/>
        </p:nvCxnSpPr>
        <p:spPr>
          <a:xfrm rot="-4092" flipH="false" flipV="false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62000" y="61722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注册时可选「仅患者角色」或「双重角色（医生+患者）」；双重角色账号可在主界面右上角</a:t>
            </a:r>
            <a:r>
              <a:rPr lang="en-US" b="true" i="false" strike="noStrike" u="none" sz="15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一键切换角色</a:t>
            </a: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，仅患者账号不显示该入口。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技术选型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355600"/>
            <a:ext cx="50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9144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159000"/>
            <a:ext cx="431800" cy="431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71600" y="21082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 数据库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191000" y="2184400"/>
            <a:ext cx="723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关系型数据库，6 张业务表支撑核心数据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276600"/>
            <a:ext cx="431800" cy="431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71600" y="32258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Java Swing 界面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191000" y="3302000"/>
            <a:ext cx="723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桌面端 GUI，自绘组件构建统一的美化视觉风格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394200"/>
            <a:ext cx="431800" cy="431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71600" y="43434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JDBC 数据访问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191000" y="4419600"/>
            <a:ext cx="723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数据库连接与查询统一封装于公共层，降低耦合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511800"/>
            <a:ext cx="431800" cy="431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71600" y="5461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Maven 多模块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191000" y="5537200"/>
            <a:ext cx="723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按大功能拆分 7 个模块，构建清晰、便于多人并行开发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项目结构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355600"/>
            <a:ext cx="50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9144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Maven 多模块项目结构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2540000" y="2159000"/>
            <a:ext cx="7112000" cy="5842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540000" y="2209800"/>
            <a:ext cx="711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healthy-ui-shell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540000" y="2514600"/>
            <a:ext cx="711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应用壳层：App 入口 / MainView / LoginView / RegisterDialog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276600"/>
            <a:ext cx="3429000" cy="914400"/>
          </a:xfrm>
          <a:prstGeom prst="roundRect">
            <a:avLst>
              <a:gd name="adj" fmla="val 0"/>
            </a:avLst>
          </a:prstGeom>
          <a:solidFill>
            <a:srgbClr val="EEF4FB">
              <a:alpha val="100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3528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Roboto Mono"/>
                <a:ea typeface="Roboto Mono"/>
                <a:cs typeface="Roboto Mono"/>
                <a:sym typeface="Roboto Mono"/>
              </a:rPr>
              <a:t>healthy-ui-feature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" y="3683000"/>
            <a:ext cx="3276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功能面板：检查项 / 检查组 / 预约 / 录入 / 跟踪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276600"/>
            <a:ext cx="2794000" cy="914400"/>
          </a:xfrm>
          <a:prstGeom prst="roundRect">
            <a:avLst>
              <a:gd name="adj" fmla="val 0"/>
            </a:avLst>
          </a:prstGeom>
          <a:solidFill>
            <a:srgbClr val="EEF4FB">
              <a:alpha val="100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3528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Roboto Mono"/>
                <a:ea typeface="Roboto Mono"/>
                <a:cs typeface="Roboto Mono"/>
                <a:sym typeface="Roboto Mono"/>
              </a:rPr>
              <a:t>healthy-ui-base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775200" y="3683000"/>
            <a:ext cx="2641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UI 主题与自绘组件（无业务依赖）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874000" y="3276600"/>
            <a:ext cx="3429000" cy="914400"/>
          </a:xfrm>
          <a:prstGeom prst="roundRect">
            <a:avLst>
              <a:gd name="adj" fmla="val 0"/>
            </a:avLst>
          </a:prstGeom>
          <a:solidFill>
            <a:srgbClr val="EEF4FB">
              <a:alpha val="100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874000" y="3352800"/>
            <a:ext cx="342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Roboto Mono"/>
                <a:ea typeface="Roboto Mono"/>
                <a:cs typeface="Roboto Mono"/>
                <a:sym typeface="Roboto Mono"/>
              </a:rPr>
              <a:t>healthy-service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50200" y="3683000"/>
            <a:ext cx="3276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业务逻辑：登录 / 注册校验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540000" y="4597400"/>
            <a:ext cx="7112000" cy="584200"/>
          </a:xfrm>
          <a:prstGeom prst="roundRect">
            <a:avLst>
              <a:gd name="adj" fmla="val 0"/>
            </a:avLst>
          </a:prstGeom>
          <a:solidFill>
            <a:srgbClr val="EEF4FB">
              <a:alpha val="100000"/>
            </a:srgbClr>
          </a:solidFill>
          <a:ln w="127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540000" y="4648200"/>
            <a:ext cx="711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Roboto Mono"/>
                <a:ea typeface="Roboto Mono"/>
                <a:cs typeface="Roboto Mono"/>
                <a:sym typeface="Roboto Mono"/>
              </a:rPr>
              <a:t>healthy-dao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540000" y="4953000"/>
            <a:ext cx="711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数据访问：用户 / 检查项 / 检查组 / 预约 / 结果 5 个 DAO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540000" y="5588000"/>
            <a:ext cx="7112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540000" y="5638800"/>
            <a:ext cx="711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Roboto Mono"/>
                <a:ea typeface="Roboto Mono"/>
                <a:cs typeface="Roboto Mono"/>
                <a:sym typeface="Roboto Mono"/>
              </a:rPr>
              <a:t>healthy-common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540000" y="5943600"/>
            <a:ext cx="711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公共层：JdbcUtil / 实体 / Session / 连接配置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779000" y="5588000"/>
            <a:ext cx="2032000" cy="584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779000" y="56388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healthy-legacy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779000" y="5892800"/>
            <a:ext cx="203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旧代码归档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5318164" flipH="false" flipV="false">
            <a:off x="2336800" y="3003626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8" id="28"/>
          <p:cNvCxnSpPr/>
          <p:nvPr/>
        </p:nvCxnSpPr>
        <p:spPr>
          <a:xfrm rot="5318164" flipH="false" flipV="false">
            <a:off x="5829300" y="3003626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9" id="29"/>
          <p:cNvCxnSpPr/>
          <p:nvPr/>
        </p:nvCxnSpPr>
        <p:spPr>
          <a:xfrm rot="5318164" flipH="false" flipV="false">
            <a:off x="9321800" y="3003626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0" id="30"/>
          <p:cNvCxnSpPr/>
          <p:nvPr/>
        </p:nvCxnSpPr>
        <p:spPr>
          <a:xfrm rot="5292605" flipH="false" flipV="false">
            <a:off x="2400300" y="4387949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1" id="31"/>
          <p:cNvCxnSpPr/>
          <p:nvPr/>
        </p:nvCxnSpPr>
        <p:spPr>
          <a:xfrm rot="5292605" flipH="false" flipV="false">
            <a:off x="9385300" y="4387949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2" id="32"/>
          <p:cNvCxnSpPr/>
          <p:nvPr/>
        </p:nvCxnSpPr>
        <p:spPr>
          <a:xfrm rot="5292605" flipH="false" flipV="false">
            <a:off x="5892800" y="5378549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33" id="33"/>
          <p:cNvCxnSpPr/>
          <p:nvPr/>
        </p:nvCxnSpPr>
        <p:spPr>
          <a:xfrm rot="10372499" flipH="false" flipV="false">
            <a:off x="9677005" y="58737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数据模型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355600"/>
            <a:ext cx="50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9144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数据库设计：6 张业务表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62000" y="1981200"/>
          <a:ext cx="10668000" cy="3276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921000"/>
                <a:gridCol w="54610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表名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关键字段</a:t>
                      </a:r>
                      <a:endParaRPr lang="en-US" sz="1100"/>
                    </a:p>
                  </a:txBody>
                  <a:tcPr anchor="ctr" anchorCtr="false" marL="101600" marR="1016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users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用户账号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tel, pwd, name, role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D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checkitem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id, name, category, price, description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checkgroup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id, name, description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D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checkgroup_item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检查组-检查项关联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group_id, item_id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appointment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id, user_tel, group_id, exam_date, status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D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exam_result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体检结果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id, appointment_id, item_id, item_value, result_status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762000" y="55372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外键关联形成两条主线：</a:t>
            </a:r>
            <a:r>
              <a:rPr lang="en-US" b="true" i="false" strike="noStrike" u="none" sz="15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→ 预约 → 结果</a:t>
            </a: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15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检查组 → 检查项</a:t>
            </a: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61722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数据初始化脚本：resources/init.sql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07 · 界面展示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355600"/>
            <a:ext cx="50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9144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系统界面展示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638300" y="1879600"/>
            <a:ext cx="3454400" cy="215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638300" y="4089400"/>
            <a:ext cx="3454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登录界面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13" b="13"/>
          <a:stretch>
            <a:fillRect/>
          </a:stretch>
        </p:blipFill>
        <p:spPr>
          <a:xfrm rot="0" flipH="false" flipV="false">
            <a:off x="7721600" y="1879600"/>
            <a:ext cx="2209800" cy="215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7721600" y="4089400"/>
            <a:ext cx="2209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注册 · 角色选择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57" b="57"/>
          <a:stretch>
            <a:fillRect/>
          </a:stretch>
        </p:blipFill>
        <p:spPr>
          <a:xfrm rot="0" flipH="false" flipV="false">
            <a:off x="1790700" y="4445000"/>
            <a:ext cx="3149600" cy="215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1790700" y="6604000"/>
            <a:ext cx="3149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医生端 · 检查项管理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0" r="0" t="57" b="57"/>
          <a:stretch>
            <a:fillRect/>
          </a:stretch>
        </p:blipFill>
        <p:spPr>
          <a:xfrm rot="0" flipH="false" flipV="false">
            <a:off x="7251700" y="4445000"/>
            <a:ext cx="3149600" cy="215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7251700" y="6604000"/>
            <a:ext cx="3149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患者端 · 跟踪管理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5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08 · 总结与展望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355600"/>
            <a:ext cx="50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9144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082800"/>
            <a:ext cx="431800" cy="431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20800" y="2032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成果总结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20800" y="2667000"/>
            <a:ext cx="4826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475569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完成体检业务全流程：检查项 / 检查组维护、预约、结果录入与跟踪</a:t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475569"/>
              </a:buClr>
              <a:buChar char="•"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医生与患者双角色协同，支持一键切换视角</a:t>
            </a:r>
          </a:p>
          <a:p>
            <a:pPr algn="l" indent="-203200" marL="203200">
              <a:lnSpc>
                <a:spcPct val="125000"/>
              </a:lnSpc>
              <a:buClr>
                <a:srgbClr val="475569"/>
              </a:buClr>
              <a:buChar char="•"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Maven 多模块架构，模块职责单一、可多人并行开发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858000" y="2082800"/>
            <a:ext cx="431800" cy="431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416800" y="2032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后续展望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416800" y="2667000"/>
            <a:ext cx="431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475569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增加体检统计报表与健康建议生成</a:t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475569"/>
              </a:buClr>
              <a:buChar char="•"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演进为 C/S 网络化部署，支持多终端访问</a:t>
            </a:r>
          </a:p>
        </p:txBody>
      </p:sp>
      <p:cxnSp>
        <p:nvCxnSpPr>
          <p:cNvPr name="Connector 12" id="12"/>
          <p:cNvCxnSpPr/>
          <p:nvPr/>
        </p:nvCxnSpPr>
        <p:spPr>
          <a:xfrm rot="-4092" flipH="false" flipV="false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61722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感谢聆听，恳请各位老师批评指正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